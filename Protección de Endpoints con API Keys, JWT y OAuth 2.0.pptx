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10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466082"/>
            <a:ext cx="25717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30566" y="2989957"/>
            <a:ext cx="6930866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Poppins"/>
              </a:rPr>
              <a:t>Protección de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782317"/>
            <a:ext cx="8096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Estrategias esenciales para asegurar arquitecturas modernas mediante API Keys, JSON Web Tokens (JWT) y OAuth 2.0.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551807"/>
            <a:ext cx="1476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5558" y="2968079"/>
            <a:ext cx="7060882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1. Vulnerabilidades en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14750"/>
            <a:ext cx="7143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Por qué la protección de endpoints es el pilar fundamental de la ciberseguridad actual.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1082"/>
            <a:ext cx="3505200" cy="301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31082"/>
            <a:ext cx="3505200" cy="301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231082"/>
            <a:ext cx="3505200" cy="301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Riesgos de Endpoints Expuestos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545407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825" y="3269307"/>
            <a:ext cx="252031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Acceso No Autorizado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4978"/>
            <a:ext cx="28765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Infiltración en recursos privados sin validación de identidad, permitiendo a atacantes escalar privilegios y ejecutar operaciones destructivas.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545407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7725" y="3269307"/>
            <a:ext cx="280035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Fuga de Datos Sensibles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634978"/>
            <a:ext cx="2876550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Exposición no intencionada de información confidencial de clientes o registros financieros por falta de cifrado y controles de autorización granular.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2545407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9625" y="3269307"/>
            <a:ext cx="2420302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Ataques DoS y Abuso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9625" y="3634978"/>
            <a:ext cx="28765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Saturación de servidores y consumo excesivo de recursos mediante scripts automatizados al carecer de límites de velocidad (Rate Limiting).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37" y="2678757"/>
            <a:ext cx="33337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362" y="2678757"/>
            <a:ext cx="23812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9637" y="2678757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8320"/>
            <a:ext cx="422910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908845"/>
            <a:ext cx="34480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Impacto de Amenazas en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4108995"/>
            <a:ext cx="3448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CBD5E1"/>
                </a:solidFill>
                <a:latin typeface="Inter SemiBold"/>
              </a:rPr>
              <a:t>de las empresas sufrieron incidentes de seguridad en APIs en el último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850" y="2831008"/>
            <a:ext cx="6660832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La Superficie de Ataque Preferida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50" y="3196679"/>
            <a:ext cx="63436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Las APIs son el núcleo de la integración digital moderna, lo que las convierte en el objetivo #1 de los ciberdelincuentes.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850" y="3867001"/>
            <a:ext cx="63436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Sin controles adecuados de autenticación y autorización, las organizaciones se exponen a interrupciones operativas, multas normativas (GDPR) y pérdidas millonarias de reputación.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0515" y="3135659"/>
            <a:ext cx="7750968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2. API Keys: Claves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0812" y="3882330"/>
            <a:ext cx="6810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Mecanismos rápidos de identificación de clientes y control de tráfico.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4412"/>
            <a:ext cx="5334000" cy="21063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84412"/>
            <a:ext cx="5334000" cy="21063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Concepto y Uso de API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925" y="3036837"/>
            <a:ext cx="4860607" cy="25137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Identificación de Aplicación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02508"/>
            <a:ext cx="46291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Una API Key es una cadena alfanumérica única asignada a un proyecto o aplicación cliente. Autentica al proyecto solicitante pero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no al usuario individual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que interactúa con él.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66318"/>
            <a:ext cx="4860607" cy="25137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Control y Cuotas de Tráfico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531989"/>
            <a:ext cx="46291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Su función principal es el monitoreo, asignación de métricas de uso y aplicación de límites de tasa (Rate Limiting) según los planes de suscripción contratados.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04636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3175843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Buenas Prácticas para API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1596776"/>
            <a:ext cx="11049000" cy="917971"/>
          </a:xfrm>
          <a:prstGeom prst="roundRect">
            <a:avLst>
              <a:gd name="adj" fmla="val 1037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1100" y="1787276"/>
            <a:ext cx="10210800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Uso exclusivo de HTTPS: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Transmitir siempre las claves cifradas mediante TLS para evitar la interceptación en tránsito por ataques Man-In-The-Middle.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667148"/>
            <a:ext cx="11049000" cy="917971"/>
          </a:xfrm>
          <a:prstGeom prst="roundRect">
            <a:avLst>
              <a:gd name="adj" fmla="val 1037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1100" y="2857648"/>
            <a:ext cx="10210800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Rotación periódica y revocación: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Establecer políticas de renovación constante y habilitar la invalidación inmediata si la clave se compromete.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737520"/>
            <a:ext cx="11049000" cy="917971"/>
          </a:xfrm>
          <a:prstGeom prst="roundRect">
            <a:avLst>
              <a:gd name="adj" fmla="val 1037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1100" y="3928020"/>
            <a:ext cx="10210800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Nunca exponer en código frontend: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Mantener las API Keys almacenadas en variables de entorno en el servidor web backend, jamás en código JS público.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807892"/>
            <a:ext cx="11049000" cy="917971"/>
          </a:xfrm>
          <a:prstGeom prst="roundRect">
            <a:avLst>
              <a:gd name="adj" fmla="val 10376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1100" y="4998392"/>
            <a:ext cx="10210800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8FAFC"/>
                </a:solidFill>
                <a:latin typeface="Inter SemiBold"/>
              </a:rPr>
              <a:t>Restricción por IP u Origen (CORS):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Limitar el uso de cada clave a direcciones IP fijas o dominios específicos previamente registrados.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505223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57559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645967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716339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811089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81461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51833"/>
            <a:ext cx="26670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022205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35555" y="2968079"/>
            <a:ext cx="712089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3. JSON Web Tokens (JWT)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14750"/>
            <a:ext cx="7143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Autenticación stateless, compacta y descentralizada para sistemas distribuidos.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0562"/>
            <a:ext cx="3505200" cy="27540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60562"/>
            <a:ext cx="3505200" cy="27540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360562"/>
            <a:ext cx="3505200" cy="2754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Estructura Interna de JWT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674887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5825" y="3398787"/>
            <a:ext cx="259032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Header (Encabezado)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64458"/>
            <a:ext cx="28765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Indica el tipo de token (JWT) y el algoritmo de firma utilizado (ej. HS256 o RS256). Se codifica en formato Base64URL.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674887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7725" y="3398787"/>
            <a:ext cx="2060257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Payload (Claims)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64458"/>
            <a:ext cx="28765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Contiene las aseveraciones sobre el usuario (ID, roles, expiración). Es legible por cualquiera, por lo que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nunca debe contener secretos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2674887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9625" y="3398787"/>
            <a:ext cx="2100262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Signature (Firma)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9625" y="3764458"/>
            <a:ext cx="28765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Garantiza la integridad. Se genera cifrando el Header + Payload codificados utilizando una clave secreta privada del servidor.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37" y="2808237"/>
            <a:ext cx="33337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2808237"/>
            <a:ext cx="3048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9637" y="2808237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2777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Verificación Stateless en JWT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1927770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El servidor emite un JWT firmado cuando el usuario inicia sesión correctamente.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17142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El cliente adjunta el token en el header Authorization: Bearer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06514"/>
            <a:ext cx="50673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Los microservicios verifican la firma matemáticamente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sin consultar una base de datos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995886"/>
            <a:ext cx="50673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Aumenta la velocidad de respuesta y la escalabilidad horizontal.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37295"/>
            <a:ext cx="5314950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65870"/>
            <a:ext cx="16192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55242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44614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33986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Comparativa: API Keys vs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2196703"/>
            <a:ext cx="11049000" cy="3081783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196703"/>
          <a:ext cx="11039474" cy="3081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35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2D3EE"/>
                          </a:solidFill>
                          <a:latin typeface="Poppins SemiBold"/>
                        </a:rPr>
                        <a:t>Criterio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2D3EE"/>
                          </a:solidFill>
                          <a:latin typeface="Poppins SemiBold"/>
                        </a:rPr>
                        <a:t>API Keys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2D3EE"/>
                          </a:solidFill>
                          <a:latin typeface="Poppins SemiBold"/>
                        </a:rPr>
                        <a:t>JWT (JSON Web Tokens)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3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Propósito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Identificación de la aplicación 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Autenticación de la identidad del usuario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3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Manejo de Estado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Stateful (Requiere validación en DB/Cache)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Stateless (Autocontenido en el payload)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356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Información Incluida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Identificador transparente u opaco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Roles, permisos y tiempo de expiración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35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Inter"/>
                        </a:rPr>
                        <a:t>Caso de Uso Ideal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Rate limiting y servicios Server-to-Server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Inter"/>
                        </a:rPr>
                        <a:t>SPAs, Apps Móviles y Microservicios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818655"/>
            <a:ext cx="2396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72990" y="2818655"/>
            <a:ext cx="44358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8812" y="2818655"/>
            <a:ext cx="42069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430041"/>
            <a:ext cx="2396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2990" y="3430041"/>
            <a:ext cx="44358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08812" y="3430041"/>
            <a:ext cx="42069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041427"/>
            <a:ext cx="2396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2990" y="4041427"/>
            <a:ext cx="44358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8812" y="4041427"/>
            <a:ext cx="42069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4652813"/>
            <a:ext cx="2396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72990" y="4652813"/>
            <a:ext cx="443582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8812" y="4652813"/>
            <a:ext cx="42069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0570" y="2968079"/>
            <a:ext cx="6870858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4. OAuth 2.0: Autorización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14750"/>
            <a:ext cx="7143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El estándar de la industria para delegación segura de permisos de acceso.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8470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23270"/>
            <a:ext cx="2541240" cy="10551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19" y="2396579"/>
            <a:ext cx="2541240" cy="10551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339" y="4023270"/>
            <a:ext cx="2541240" cy="105519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259" y="2209948"/>
            <a:ext cx="2541240" cy="1241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Flujo de Autorización OAuth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995" y="4223295"/>
            <a:ext cx="2248249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38BDF8"/>
                </a:solidFill>
                <a:latin typeface="Poppins SemiBold"/>
              </a:rPr>
              <a:t>1. Solicitud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505176"/>
            <a:ext cx="21411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La aplicación redirige al usuario al Servidor de Autorización.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15" y="2596604"/>
            <a:ext cx="2248249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38BDF8"/>
                </a:solidFill>
                <a:latin typeface="Poppins SemiBold"/>
              </a:rPr>
              <a:t>2. Permisos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444" y="2878484"/>
            <a:ext cx="21411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El usuario autentica su identidad y concede los permisos solicitados.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835" y="4223295"/>
            <a:ext cx="2248249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38BDF8"/>
                </a:solidFill>
                <a:latin typeface="Poppins SemiBold"/>
              </a:rPr>
              <a:t>3.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64" y="4505176"/>
            <a:ext cx="21411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El servidor devuelve un código de autorización temporal seguro.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755" y="2409973"/>
            <a:ext cx="2248249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38BDF8"/>
                </a:solidFill>
                <a:latin typeface="Poppins SemiBold"/>
              </a:rPr>
              <a:t>4. Access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9284" y="2691854"/>
            <a:ext cx="21411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El cliente intercambia el código por un Access Token (JWT) válido.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870" y="36422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2790" y="36422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8709" y="36422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54629" y="36422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93440"/>
            <a:ext cx="11049000" cy="5288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Uso de Tecnologías en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9750" y="5135909"/>
            <a:ext cx="85725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1" u="none">
                <a:solidFill>
                  <a:srgbClr val="94A3B8"/>
                </a:solidFill>
                <a:latin typeface="Inter"/>
              </a:rPr>
              <a:t>Las arquitecturas modernas combinan OAuth 2.0 para la delegación de acceso con JWTs como tokens de acceso, ofreciendo máxima seguridad y rendimiento.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5" y="2019151"/>
            <a:ext cx="5619750" cy="600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¿Preguntas o Dudas?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98240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Estrategia recomendada: Defensa en profundidad integrando HTTPS, API Keys, JWT y OAuth 2.0.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2238226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1144143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38100" cy="38859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499395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5550" y="3492847"/>
            <a:ext cx="82962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https://marvel-b1-cdn.bc0a.com/f00000000310757/www.fortinet.com/content/dam/fortinet/images/cyberglossary/types-of-data-security.jpg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5550" y="3738562"/>
            <a:ext cx="82962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www.fortinet.com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788</Words>
  <Application>Microsoft Office PowerPoint</Application>
  <PresentationFormat>Panorámica</PresentationFormat>
  <Paragraphs>76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Sistemas</dc:creator>
  <cp:keywords/>
  <dc:description>generated using python-pptx</dc:description>
  <cp:lastModifiedBy>juan alburgas</cp:lastModifiedBy>
  <cp:revision>1</cp:revision>
  <dcterms:created xsi:type="dcterms:W3CDTF">2013-01-27T09:14:16Z</dcterms:created>
  <dcterms:modified xsi:type="dcterms:W3CDTF">2026-08-18T17:15:32Z</dcterms:modified>
  <cp:category/>
</cp:coreProperties>
</file>