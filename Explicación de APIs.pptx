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887" y="2638425"/>
            <a:ext cx="1170622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Plus Jakarta Sans"/>
              </a:rPr>
              <a:t>¿Qué es una API y cómo funciona?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590925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Guía integral para estudiantes: Arquitectura REST, Endpoints, Manejo de Errores, POO, PHP y MySQL.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76537"/>
            <a:ext cx="7620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15702" y="3005137"/>
            <a:ext cx="476059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Fundamentos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29050" y="3824287"/>
            <a:ext cx="45339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Entendiendo el ecosistema cliente-servidor.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95550"/>
            <a:ext cx="5419725" cy="2600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95550"/>
            <a:ext cx="5419725" cy="2600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3362325"/>
            <a:ext cx="507063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18CF8"/>
                </a:solidFill>
                <a:latin typeface="Plus Jakarta Sans"/>
              </a:rPr>
              <a:t>Definición Conceptual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771900"/>
            <a:ext cx="48291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API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significa Interfaz de Programación de Aplicaciones (Application Programming Interface). Es un conjunto de reglas y protocolos que permite que dos aplicaciones software se comuniquen entre sí.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362325"/>
            <a:ext cx="507063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18CF8"/>
                </a:solidFill>
                <a:latin typeface="Plus Jakarta Sans"/>
              </a:rPr>
              <a:t>La Analogía del Restaurante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771900"/>
            <a:ext cx="48291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Imagina que estás en un restaurante (Cliente). Tú le pides platos al </a:t>
            </a:r>
            <a:r>
              <a:rPr sz="1350" b="1" i="0" u="none">
                <a:solidFill>
                  <a:srgbClr val="CBD5E1"/>
                </a:solidFill>
                <a:latin typeface="Plus Jakarta Sans"/>
              </a:rPr>
              <a:t>Mesero (API)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, quien lleva tu orden a la </a:t>
            </a:r>
            <a:r>
              <a:rPr sz="1350" b="1" i="0" u="none">
                <a:solidFill>
                  <a:srgbClr val="CBD5E1"/>
                </a:solidFill>
                <a:latin typeface="Plus Jakarta Sans"/>
              </a:rPr>
              <a:t>Cocina (Servidor/Base de datos)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, prepara la comida y te la trae de vuelta.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847975"/>
            <a:ext cx="428625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847975"/>
            <a:ext cx="3048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650" y="485775"/>
            <a:ext cx="115633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¿Qué es una API?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77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238375"/>
            <a:ext cx="3581400" cy="3114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238375"/>
            <a:ext cx="3581400" cy="3114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238375"/>
            <a:ext cx="3581400" cy="3114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050" y="3105150"/>
            <a:ext cx="314039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18CF8"/>
                </a:solidFill>
                <a:latin typeface="Plus Jakarta Sans"/>
              </a:rPr>
              <a:t>Arquitectura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3514725"/>
            <a:ext cx="299085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Plus Jakarta Sans"/>
              </a:rPr>
              <a:t>RE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presentational </a:t>
            </a:r>
            <a:r>
              <a:rPr sz="1350" b="1" i="0" u="none">
                <a:solidFill>
                  <a:srgbClr val="CBD5E1"/>
                </a:solidFill>
                <a:latin typeface="Plus Jakarta Sans"/>
              </a:rPr>
              <a:t>S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tate </a:t>
            </a:r>
            <a:r>
              <a:rPr sz="1350" b="1" i="0" u="none">
                <a:solidFill>
                  <a:srgbClr val="CBD5E1"/>
                </a:solidFill>
                <a:latin typeface="Plus Jakarta Sans"/>
              </a:rPr>
              <a:t>T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ransfer es un estilo de arquitectura de software para sistemas hipermedia distribuidos, basado en peticiones HTTP estándar.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575" y="3105150"/>
            <a:ext cx="314039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18CF8"/>
                </a:solidFill>
                <a:latin typeface="Plus Jakarta Sans"/>
              </a:rPr>
              <a:t>Principios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0575" y="3514725"/>
            <a:ext cx="2990850" cy="1543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• Sin estado (Stateless): Cada petición del cliente contiene toda la información necesaria.</a:t>
            </a:r>
            <a:r>
              <a:t>
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• Interfaz uniforme.</a:t>
            </a:r>
            <a:r>
              <a:t>
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• Respuestas en formatos ligeros como JSON o XML.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105150"/>
            <a:ext cx="314039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18CF8"/>
                </a:solidFill>
                <a:latin typeface="Plus Jakarta Sans"/>
              </a:rPr>
              <a:t>Verbos 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514725"/>
            <a:ext cx="29908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CBD5E1"/>
                </a:solidFill>
                <a:latin typeface="Plus Jakarta Sans"/>
              </a:rPr>
              <a:t>GET: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Obtener recursos.</a:t>
            </a:r>
            <a:r>
              <a:t>
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CBD5E1"/>
                </a:solidFill>
                <a:latin typeface="Plus Jakarta Sans"/>
              </a:rPr>
              <a:t>POST: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Crear recursos.</a:t>
            </a:r>
            <a:r>
              <a:t>
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CBD5E1"/>
                </a:solidFill>
                <a:latin typeface="Plus Jakarta Sans"/>
              </a:rPr>
              <a:t>PUT/PATCH: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Actualizar.</a:t>
            </a:r>
            <a:r>
              <a:t>
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CBD5E1"/>
                </a:solidFill>
                <a:latin typeface="Plus Jakarta Sans"/>
              </a:rPr>
              <a:t>DELETE: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Eliminar registros.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590800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0575" y="259080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59080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8650" y="485775"/>
            <a:ext cx="115633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¿Qué es REST y RESTful?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24137"/>
            <a:ext cx="5419725" cy="2343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050" y="3490912"/>
            <a:ext cx="507063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18CF8"/>
                </a:solidFill>
                <a:latin typeface="Plus Jakarta Sans"/>
              </a:rPr>
              <a:t>Punto de Acceso Único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050" y="3900487"/>
            <a:ext cx="48291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Un </a:t>
            </a:r>
            <a:r>
              <a:rPr sz="1350" b="1" i="0" u="none">
                <a:solidFill>
                  <a:srgbClr val="CBD5E1"/>
                </a:solidFill>
                <a:latin typeface="Plus Jakarta Sans"/>
              </a:rPr>
              <a:t>Endpoint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es la URL específica donde tu API puede recibir peticiones y exponer un recurso determinado. Actúa como la dirección exacta digital de un servicio.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2976562"/>
            <a:ext cx="219075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9875" y="2624137"/>
            <a:ext cx="50863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1F5F9"/>
                </a:solidFill>
                <a:latin typeface="Plus Jakarta Sans"/>
              </a:rPr>
              <a:t>URL Base: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</a:t>
            </a:r>
            <a:r>
              <a:rPr sz="1350" b="0" i="0" u="none">
                <a:solidFill>
                  <a:srgbClr val="A5F3FC"/>
                </a:solidFill>
                <a:latin typeface="Plus Jakarta Sans"/>
              </a:rPr>
              <a:t>https://api.escuela.com/v1/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3081337"/>
            <a:ext cx="50863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1F5F9"/>
                </a:solidFill>
                <a:latin typeface="Plus Jakarta Sans"/>
              </a:rPr>
              <a:t>Endpoint de Usuarios:</a:t>
            </a:r>
            <a:r>
              <a:rPr sz="1350" b="0" i="0" u="none">
                <a:solidFill>
                  <a:srgbClr val="CBD5E1"/>
                </a:solidFill>
                <a:latin typeface="Plus Jakarta Sans"/>
              </a:rPr>
              <a:t> </a:t>
            </a:r>
            <a:r>
              <a:rPr sz="1350" b="0" i="0" u="none">
                <a:solidFill>
                  <a:srgbClr val="A5F3FC"/>
                </a:solidFill>
                <a:latin typeface="Plus Jakarta Sans"/>
              </a:rPr>
              <a:t>/usuarios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3538537"/>
            <a:ext cx="5086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F1F5F9"/>
                </a:solidFill>
                <a:latin typeface="Plus Jakarta Sans"/>
              </a:rPr>
              <a:t>Ejemplo Completo GET:</a:t>
            </a:r>
            <a:r>
              <a:t>
</a:t>
            </a:r>
            <a:r>
              <a:rPr sz="1350" b="0" i="0" u="none">
                <a:solidFill>
                  <a:srgbClr val="FBBF24"/>
                </a:solidFill>
                <a:latin typeface="Plus Jakarta Sans"/>
              </a:rPr>
              <a:t>GET /v1/usuarios/15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4243387"/>
            <a:ext cx="5086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Devuelve los datos detallados del usuario con ID 15 en formato JSON.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657475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114675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571875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276725"/>
            <a:ext cx="17145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8650" y="485775"/>
            <a:ext cx="115633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¿Qué es un Endpoint?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85775" y="2138362"/>
            <a:ext cx="11220450" cy="33147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5775" y="2138362"/>
          <a:ext cx="11220449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4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818CF8"/>
                          </a:solidFill>
                          <a:latin typeface="Plus Jakarta Sans"/>
                        </a:rPr>
                        <a:t>Código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818CF8"/>
                          </a:solidFill>
                          <a:latin typeface="Plus Jakarta Sans"/>
                        </a:rPr>
                        <a:t>Estado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818CF8"/>
                          </a:solidFill>
                          <a:latin typeface="Plus Jakarta Sans"/>
                        </a:rPr>
                        <a:t>Significado / Cuándo Ocurre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200 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Éxito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La petición se ha completado satisfactoriamente y devuelve datos.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201 Created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Creado con éxito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El recurso (ej. usuario o producto) se creó correctamente en la base de datos.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400 Bad Request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Error del Cliente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Faltan parámetros obligatorios o la estructura JSON está mal formada.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404 Not Found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 Encontrado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El recurso solicitado mediante el Endpoint no existe en el sistema.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500 Internal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Error del Servidor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Falla inesperada en la lógica interna del script PHP o conexión MySQL caída.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85775" y="2676525"/>
            <a:ext cx="21212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607022" y="2676525"/>
            <a:ext cx="1944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51610" y="2676525"/>
            <a:ext cx="7154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5775" y="3228975"/>
            <a:ext cx="21212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07022" y="3228975"/>
            <a:ext cx="1944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51610" y="3228975"/>
            <a:ext cx="7154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5775" y="3781425"/>
            <a:ext cx="21212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07022" y="3781425"/>
            <a:ext cx="1944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51610" y="3781425"/>
            <a:ext cx="7154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5775" y="4333875"/>
            <a:ext cx="21212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07022" y="4333875"/>
            <a:ext cx="1944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51610" y="4333875"/>
            <a:ext cx="7154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5775" y="4886325"/>
            <a:ext cx="21212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07022" y="4886325"/>
            <a:ext cx="1944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51610" y="4886325"/>
            <a:ext cx="7154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5775" y="5438775"/>
            <a:ext cx="212124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07022" y="5438775"/>
            <a:ext cx="194458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51610" y="5438775"/>
            <a:ext cx="7154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862262"/>
            <a:ext cx="64770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3414712"/>
            <a:ext cx="1028700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967162"/>
            <a:ext cx="1333500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4519612"/>
            <a:ext cx="1181100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5072062"/>
            <a:ext cx="1562100" cy="2476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8650" y="485775"/>
            <a:ext cx="115633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Manejo de Errores (Códigos HTTP)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577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76537"/>
            <a:ext cx="7620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20603" y="3005137"/>
            <a:ext cx="6350793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Implementación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1812" y="3824287"/>
            <a:ext cx="6048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Construyendo una API con POO, PHP y MySQL.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90787"/>
            <a:ext cx="5419725" cy="2609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90787"/>
            <a:ext cx="5419725" cy="2609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3357562"/>
            <a:ext cx="507063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18CF8"/>
                </a:solidFill>
                <a:latin typeface="Plus Jakarta Sans"/>
              </a:rPr>
              <a:t>Estructura Modular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767137"/>
            <a:ext cx="4829175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La POO nos permite empaquetar la lógica de negocio en clases (como Database y UserApiController), facilitando el mantenimiento, la reutilización de código y la separación de responsabilidades.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2690812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1925" y="2690812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private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1525" y="2690812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1125" y="2690812"/>
            <a:ext cx="838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"localhost"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1725" y="2690812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private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1325" y="2690812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2877442"/>
            <a:ext cx="914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"escuela_db"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3325" y="2877442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6725" y="2877442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$conn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0125" y="2877442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525" y="2877442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39325" y="2877442"/>
            <a:ext cx="99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getConnection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3064073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$this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3325" y="3064073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null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525" y="3064073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725" y="3064073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$this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4525" y="3064073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4125" y="3064073"/>
            <a:ext cx="99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"mysql:host="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6525" y="3250703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$this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3325" y="3250703"/>
            <a:ext cx="762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";dbname="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3925" y="3250703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$this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2125" y="3250703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"root"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1725" y="3250703"/>
            <a:ext cx="152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6525" y="3437334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catch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4325" y="3437334"/>
            <a:ext cx="152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1525" y="3437334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echo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2525" y="3437334"/>
            <a:ext cx="685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"Error: 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6925" y="3437334"/>
            <a:ext cx="152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6525" y="3623964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9925" y="3623964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$this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843212"/>
            <a:ext cx="390525" cy="3429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8650" y="485775"/>
            <a:ext cx="115633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Programación Orientada a Objetos (POO)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577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222426"/>
            <a:ext cx="11220450" cy="1146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3422451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422451"/>
            <a:ext cx="3581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"Content-Type: application/json; charset=UTF-8"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422451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0" y="3422451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$_SERVER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3422451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'REQUEST_METHOD'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0" y="3422451"/>
            <a:ext cx="152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422451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422451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'GET'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3422451"/>
            <a:ext cx="685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3422451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609082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609082"/>
            <a:ext cx="685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0" y="3609082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0" y="3609082"/>
            <a:ext cx="2971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"SELECT id, nombre, email FROM alumnos"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609082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$stmt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0600" y="3609082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609082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3609082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$stmt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795712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$alumnos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8400" y="3795712"/>
            <a:ext cx="381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$stmt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5400" y="3795712"/>
            <a:ext cx="152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3795712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$alumnos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400" y="3795712"/>
            <a:ext cx="1371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http_response_code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3400" y="3795712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echo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0" y="3795712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"estado"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9400" y="3795712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"exito"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982342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"datos"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" y="3982342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BBF24"/>
                </a:solidFill>
                <a:latin typeface="JetBrains Mono"/>
              </a:rPr>
              <a:t>$alumnos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90800" y="3982342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else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4200" y="3982342"/>
            <a:ext cx="1371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http_response_code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982342"/>
            <a:ext cx="304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F472B6"/>
                </a:solidFill>
                <a:latin typeface="JetBrains Mono"/>
              </a:rPr>
              <a:t>echo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82342"/>
            <a:ext cx="609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"estado"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982342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"error"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982342"/>
            <a:ext cx="685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"mensaje"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1600" y="3982342"/>
            <a:ext cx="1371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A5F3FC"/>
                </a:solidFill>
                <a:latin typeface="JetBrains Mono"/>
              </a:rPr>
              <a:t>"No hay registros"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" y="485775"/>
            <a:ext cx="115633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Controlador de la API (PHP + PDO)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577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24137"/>
            <a:ext cx="5491162" cy="2343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624137"/>
            <a:ext cx="5491162" cy="2343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3490912"/>
            <a:ext cx="514564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18CF8"/>
                </a:solidFill>
                <a:latin typeface="Plus Jakarta Sans"/>
              </a:rPr>
              <a:t>Conexión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900487"/>
            <a:ext cx="4900612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Las APIs son el puente indispensable entre bases de datos relacionales (MySQL), lenguajes de servidor (PHP mediante POO) y interfaces de usuario modernas.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337" y="3490912"/>
            <a:ext cx="514564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18CF8"/>
                </a:solidFill>
                <a:latin typeface="Plus Jakarta Sans"/>
              </a:rPr>
              <a:t>Buenas Prácticas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337" y="3900487"/>
            <a:ext cx="4900612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Maneja códigos de error apropiados (200, 404, 500) y estructura tus endpoints de manera limpia utilizando verbos HTTP normalizados.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976562"/>
            <a:ext cx="428625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337" y="2976562"/>
            <a:ext cx="342900" cy="342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8650" y="485775"/>
            <a:ext cx="115633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Resumen de la Sesión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775" y="485775"/>
            <a:ext cx="47625" cy="4476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887" y="2743200"/>
            <a:ext cx="11706225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Plus Jakarta Sans"/>
              </a:rPr>
              <a:t>¿Preguntas o Dudas?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00475"/>
            <a:ext cx="7620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¡Gracias por tu atención! Es momento de llevar la teoría al código práctico.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700</Words>
  <Application>Microsoft Office PowerPoint</Application>
  <PresentationFormat>Panorámica</PresentationFormat>
  <Paragraphs>120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JetBrains Mono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Sistemas</dc:creator>
  <cp:keywords/>
  <dc:description>generated using python-pptx</dc:description>
  <cp:lastModifiedBy>juan alburgas</cp:lastModifiedBy>
  <cp:revision>1</cp:revision>
  <dcterms:created xsi:type="dcterms:W3CDTF">2013-01-27T09:14:16Z</dcterms:created>
  <dcterms:modified xsi:type="dcterms:W3CDTF">2026-08-11T20:56:22Z</dcterms:modified>
  <cp:category/>
</cp:coreProperties>
</file>